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8" r:id="rId6"/>
    <p:sldId id="267" r:id="rId7"/>
    <p:sldId id="260" r:id="rId8"/>
    <p:sldId id="261" r:id="rId9"/>
    <p:sldId id="269" r:id="rId10"/>
    <p:sldId id="263" r:id="rId11"/>
    <p:sldId id="270" r:id="rId12"/>
    <p:sldId id="271" r:id="rId13"/>
    <p:sldId id="262" r:id="rId14"/>
    <p:sldId id="264" r:id="rId15"/>
    <p:sldId id="272" r:id="rId16"/>
    <p:sldId id="26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05CBE-1807-474B-82BC-CF687FA9B51E}" type="datetimeFigureOut">
              <a:rPr lang="sr-Latn-RS" smtClean="0"/>
              <a:t>31.8.2026.</a:t>
            </a:fld>
            <a:endParaRPr lang="sr-Latn-R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R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7056D-9092-49D9-A6B9-76C10BBD5AC5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98155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7E406-A9DC-498F-9ADD-31B71ACEF288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21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7E3AC-CFE2-4D70-964E-809186875FEA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583565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81446-F684-499B-8B21-1E4B091E84E4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090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DE9BE-9572-4C4C-ABC5-9D624A5054DC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54657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E363F-2438-4976-AA1B-7EB4D4E48CFC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3693597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105CF6-C84C-4A23-95DD-8F93AB4B87A2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811691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6E4AD-DFFE-44EA-835D-B3765495B3FC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sr-Latn-R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72266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26A0331-D0F3-4DE6-9FB2-F0A3260B6722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731474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129C2-1C6A-4106-AF8F-EB4C51CD43A5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904648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53F82-BFA5-456E-AD1B-ECBDF429CC62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1491032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C3009-A3F6-48C7-8FBA-46CFFE09169F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</p:spTree>
    <p:extLst>
      <p:ext uri="{BB962C8B-B14F-4D97-AF65-F5344CB8AC3E}">
        <p14:creationId xmlns:p14="http://schemas.microsoft.com/office/powerpoint/2010/main" val="2435703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EB334FF-D46C-4A56-9397-D3072D25D68D}" type="datetime1">
              <a:rPr lang="sr-Latn-RS" smtClean="0"/>
              <a:t>31.8.2026.</a:t>
            </a:fld>
            <a:endParaRPr lang="sr-Latn-R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sr-Latn-R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DC15464-D614-49BC-9307-62CAD98D72BC}" type="slidenum">
              <a:rPr lang="sr-Latn-RS" smtClean="0"/>
              <a:t>‹#›</a:t>
            </a:fld>
            <a:endParaRPr lang="sr-Latn-R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281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0051" y="1036319"/>
            <a:ext cx="10058400" cy="1625455"/>
          </a:xfrm>
        </p:spPr>
        <p:txBody>
          <a:bodyPr>
            <a:normAutofit fontScale="90000"/>
          </a:bodyPr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Tehnike za augmentaciju tekstualnih podataka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2661774"/>
            <a:ext cx="10058400" cy="1143000"/>
          </a:xfrm>
        </p:spPr>
        <p:txBody>
          <a:bodyPr/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seminarski rad iz predmeta Prikupljanje i predobrada podataka za mašinsko učenje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95091" y="4665572"/>
            <a:ext cx="3179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Student: Ivana Milivojević 1699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40010" y="5747657"/>
            <a:ext cx="2178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Niš, septembar 2026.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689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Sadržaj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977162"/>
            <a:ext cx="10058400" cy="4350250"/>
          </a:xfrm>
        </p:spPr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sr-Latn-R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Uvod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Predobrada tekstualnih podataka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Čišćenje teksta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Tokenizacija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Uklanjanje zaustavnih reči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Normalizacija teksta</a:t>
            </a:r>
            <a:endParaRPr lang="sr-Latn-R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Tehnike za </a:t>
            </a:r>
            <a:r>
              <a:rPr lang="sr-Latn-R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augmentaciju teksta</a:t>
            </a:r>
            <a:endParaRPr lang="sr-Latn-RS" sz="2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Jednostavne leksičke tehnike</a:t>
            </a:r>
            <a:endParaRPr lang="sr-Latn-R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Kontekstualna augmentacija</a:t>
            </a:r>
            <a:endParaRPr lang="sr-Latn-R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Prevođenje unazad</a:t>
            </a:r>
            <a:endParaRPr lang="sr-Latn-R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Parafraziranje teksta</a:t>
            </a:r>
            <a:endParaRPr lang="sr-Latn-RS" sz="2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Generativni modeli za augmentaciju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Augmentacija dodavanjem šuma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Zaključak</a:t>
            </a:r>
            <a:endParaRPr lang="sr-Latn-RS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fld id="{5DC15464-D614-49BC-9307-62CAD98D72BC}" type="slidenum">
              <a:rPr lang="sr-Latn-RS" sz="2000" smtClean="0"/>
              <a:t>2</a:t>
            </a:fld>
            <a:endParaRPr lang="sr-Latn-RS" sz="2000" dirty="0"/>
          </a:p>
        </p:txBody>
      </p:sp>
    </p:spTree>
    <p:extLst>
      <p:ext uri="{BB962C8B-B14F-4D97-AF65-F5344CB8AC3E}">
        <p14:creationId xmlns:p14="http://schemas.microsoft.com/office/powerpoint/2010/main" val="111291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Uvod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23271" y="6414498"/>
            <a:ext cx="1312025" cy="365125"/>
          </a:xfrm>
        </p:spPr>
        <p:txBody>
          <a:bodyPr/>
          <a:lstStyle/>
          <a:p>
            <a:r>
              <a:rPr lang="sr-Latn-RS" sz="2000" dirty="0"/>
              <a:t>3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097280" y="206424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Tekstualni podaci predstavljaju glavni izvor podataka u zadacima obrade prirodnog jezika (NLP).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Tekst često sadrži greške, skraćenice, neformalne izraze i druge elemente koji otežavaju njegovu neposrednu upotrebu.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Zbog toga je predobrada teksta važan korak pre primene modela mašinskog učenja.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Augmentacija tekstualnih podataka podrazumeva generisanje novih primera na osnovu postojećeg skupa podataka.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Posebno je korisna kada postoji malo označenih podataka ili kada su klase neuravnotežene.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Kod teksta je ključno da augmentacija očuva značenje i ispravnu oznaku originalnog primera.</a:t>
            </a:r>
          </a:p>
        </p:txBody>
      </p:sp>
    </p:spTree>
    <p:extLst>
      <p:ext uri="{BB962C8B-B14F-4D97-AF65-F5344CB8AC3E}">
        <p14:creationId xmlns:p14="http://schemas.microsoft.com/office/powerpoint/2010/main" val="327163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/>
              <a:t>4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097280" y="245395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Predobrada tekstualnih podataka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97280" y="206424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Cilj preobrade je priprema teksta za dalju analizu i primenu NLP modela.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Izbor postupaka predobrade zavisi od prirode podataka i konkretnog zadatka.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Predobrada ne treba da bude previše agresivna, jer uklanjanje određenih elemenata može dovesti do gubitka informacija važnih za zadatak.</a:t>
            </a:r>
          </a:p>
        </p:txBody>
      </p:sp>
    </p:spTree>
    <p:extLst>
      <p:ext uri="{BB962C8B-B14F-4D97-AF65-F5344CB8AC3E}">
        <p14:creationId xmlns:p14="http://schemas.microsoft.com/office/powerpoint/2010/main" val="44527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/>
              <a:t>5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097280" y="206424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Obuhvata uklanjanje ili transformaciju elemanata koji mogu predstavljati šum za konkretan zadatak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Primeri tehnika: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Uklanjanje specijalnih karaktera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Uklanjanje i obrada brojeva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Uklanjanje URL adresa i HTML tagova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Uklanjanje suvišnih razmaka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Predobrada tekstualnih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podataka – Čišćenje teksta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99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/>
              <a:t>6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Predobrada tekstualnih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podataka – Tokenizacija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1097280" y="206424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Tokenizacija je p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roces podele teksta na manje jedinice – tokene.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Može se vršiti na nivou: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rečenica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reči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delova reči (subword)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karaktera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Tokenizacija na nivou reči je jednostavna, ali može imati problem sa retkim i nepoznatim rečima i velikim rečnikom.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Subword tokenizacija omogućava predstavljanje retkih i nepoznatih reči kombinovanjem poznatih tokena.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Savremeni jezički modeli najčešće koriste subword pristupe: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BERT – WordPiece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GPT – varijante BPE (Byte Pair Encoding)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Izbor načina tokenizacije predstavlja kompromis između veličine rečnika, dužine sekvence i količine informacija koju token nosi. 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416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 </a:t>
            </a:r>
            <a:endParaRPr lang="sr-Latn-R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/>
              <a:t>7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Predobrada tekstualnih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podataka – Uklanjanje zaustavnih reči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097280" y="206424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Zaustavne (stop) reči su veoma česte reči koje nose malo informacije značajnih za razlikovanje dokumenata.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Primeri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„i“, „je“, „da“, „se“, „na“.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Njihovim uklanjenjem može se: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smanjiti broj tokena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smanjiti dimenzionalnost tekstualne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reprezentacije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Liste stop reči mogu biti unapred definisane ili prilagođene konkretnom skupu podataka.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Uklanjanje nije uvek poželjno: neke stop reči mogu biti važne, npr. „ne“ kod analize sentimenata.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Kod savremenih Transformer modela stop reči se najčešće ne uklanjaju, jer model koristi kontekst cele sekvence.</a:t>
            </a:r>
          </a:p>
          <a:p>
            <a:pPr marL="201168" lvl="1" indent="0">
              <a:buNone/>
            </a:pPr>
            <a:endParaRPr lang="sr-Latn-R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1425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/>
              <a:t>8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Predobrada tekstualnih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podataka – Normalizacija teksta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97280" y="206424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Dovođenje različitih oblika istog ili sličnog jezičkog sadržaja u ujednačen oblik.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Cilj je smanjenje nepotrebne varijabilnosti u tekstu i olakšavanje njegove dalje analize.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Najčešći postupci normalizacije: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konverzovanje teksta u mala slova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ispravljanje pravopisnih grešaka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obrada skraćenica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stemovanje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lematizacija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Normalizaciju treba primenjivati pažčjivo kako ne bi došlo do gubitka značajnih informacija.</a:t>
            </a:r>
          </a:p>
          <a:p>
            <a:pPr marL="0" indent="0">
              <a:buNone/>
            </a:pP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8651" y="3230169"/>
            <a:ext cx="2491468" cy="132318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817" y="3284791"/>
            <a:ext cx="2603863" cy="142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023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 smtClean="0"/>
              <a:t>9</a:t>
            </a:r>
            <a:endParaRPr lang="sr-Latn-RS" sz="2000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Tehnike za augmentaciju teksta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97280" y="206424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Augmentacija teksta predstavlja generisanje novih trening primera na osnovu postojećih podataka.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Cilj je povećanje količine i raznovrsnosti podataka bez dodatnog ručnog označavanja.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Posebno je korisna: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kod malih skupova podataka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kod nauravnoteženih klasa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 povećanje robusnosti modela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Novi primer treba da bude dovoljno različit, ali da zadrži značenje i originalnu oznaku.</a:t>
            </a:r>
            <a:endParaRPr lang="sr-Latn-R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sr-Latn-R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10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 smtClean="0"/>
              <a:t>10</a:t>
            </a:r>
            <a:endParaRPr lang="sr-Latn-RS" sz="2000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Tehnike za augmentaciju teksta – Jednostavne leksičke tehnike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1097280" y="206424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EDA (Easy Data Augmentation) obuhvata jednostavne jezičke transformacije teksta na nivou pojedinačnih reči.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 zahteva upotrebu složenih jezičkih ili generativnih modela.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Osnovne EDA tehnike: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Zamena sinonimima – reč se zamenjuje rečju sličnog značenja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Nasumično umetanje – sinonim postojeće reči umeće se na nasumičnu poziciju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Nasumično brisanje – reči se uklanjaju sa određenom verovatnoćom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Nasumična zamena mesta – dve reči u rečenici menjaju pozicije.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Prednosti: jednostavnost, mala računska složenost, brzo generisanje novih primera.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Ograničenja: ne uzimaju dovoljno u obzir kontekst, mogu proizvesti neprirodan tekst ili promenti značenje i ispravnu oznaku teksta.</a:t>
            </a:r>
          </a:p>
        </p:txBody>
      </p:sp>
    </p:spTree>
    <p:extLst>
      <p:ext uri="{BB962C8B-B14F-4D97-AF65-F5344CB8AC3E}">
        <p14:creationId xmlns:p14="http://schemas.microsoft.com/office/powerpoint/2010/main" val="3165671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 smtClean="0"/>
              <a:t>11</a:t>
            </a:r>
            <a:endParaRPr lang="sr-Latn-RS" sz="20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Tehnike za augmentaciju teksta – Kontekstualna augmentacija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097280" y="206424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Cilj je generisanje prirodnijih i semantički odgovarajućih novih primera.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Kod kontekstualne zamene reči, nova reč se bira prema njenoj pogodnosti u konkretnom kontekstu, a ne samo prema rečničkoj sličnosti.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Mogu se koristiti maskirani jezički modeli (MLM), kao što je BERT: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izabrana reč se zamenjuje tokenom [MASK]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 na osnovu levog i desnog konteksta predlaže odgovarajuće zamene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Prednost: prirodniji tekst i bolji izbor zamene u odnosu na klasične sinonime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Ograničenje: najverovatnija zamena nije nužno odgovarajuća za konkretnu klasu, pa je potrebno proveriti da li je očuvano originalno značenje i oznaka.</a:t>
            </a:r>
          </a:p>
        </p:txBody>
      </p:sp>
    </p:spTree>
    <p:extLst>
      <p:ext uri="{BB962C8B-B14F-4D97-AF65-F5344CB8AC3E}">
        <p14:creationId xmlns:p14="http://schemas.microsoft.com/office/powerpoint/2010/main" val="1551308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 smtClean="0"/>
              <a:t>12</a:t>
            </a:r>
            <a:endParaRPr lang="sr-Latn-RS" sz="20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Tehnike za augmentaciju teksta – Prevođenje unazad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976" y="2686330"/>
            <a:ext cx="3967059" cy="1948423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1097280" y="2064249"/>
            <a:ext cx="6782696" cy="402336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Originalni tekst se prvo prevodi na posredni jezik, a zatim ponovo na izvorni jezik.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Kao rezultat se dobija parafrazirana verzija originalnog teksta sa drugačijom strukturom.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Korišćenjem različitih posrednih jezika moguće je generisati više varijanti istog primera.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Prednosti: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generiše prirodnije i strukturno raznovrsnije primere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Ograničenja: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tokom prevođenja može doći do promene ili gubitka značenja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kvalitet zavisi od kvaliteta modela za prevođenje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problematično kod idioma, žargona i stručnih izraza.</a:t>
            </a:r>
          </a:p>
        </p:txBody>
      </p:sp>
    </p:spTree>
    <p:extLst>
      <p:ext uri="{BB962C8B-B14F-4D97-AF65-F5344CB8AC3E}">
        <p14:creationId xmlns:p14="http://schemas.microsoft.com/office/powerpoint/2010/main" val="76329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 smtClean="0"/>
              <a:t>13</a:t>
            </a:r>
            <a:endParaRPr lang="sr-Latn-RS" sz="20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Tehnike za augmentaciju teksta – Parafraziranje teksta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097280" y="2064249"/>
            <a:ext cx="11829826" cy="4023360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Generisanje nove formulacije koja zadržava isto ili veoma slično značenje kao originalni tekst.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Parafraza može menjati: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veći deo rečenice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strukturu rečenice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redosled reči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Može se realizovati pomoću: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back-translation pristupa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sequence-to-sequence modela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i generativnih jezičkih modela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Prednosti: generiše prirodnije i raznovrsnije primere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Ograničenja: postoji rizik da se promeni značenje, klasa ili intenzitet sentimeneta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Ključni zahtev je balans između raznovrsnosti i očuvanja semantičkg značenja.</a:t>
            </a:r>
          </a:p>
        </p:txBody>
      </p:sp>
    </p:spTree>
    <p:extLst>
      <p:ext uri="{BB962C8B-B14F-4D97-AF65-F5344CB8AC3E}">
        <p14:creationId xmlns:p14="http://schemas.microsoft.com/office/powerpoint/2010/main" val="2858460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 smtClean="0"/>
              <a:t>14</a:t>
            </a:r>
            <a:endParaRPr lang="sr-Latn-RS" sz="20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Tehnike za augmentaciju teksta – Generativni modeli za augmentaciju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1097280" y="2064249"/>
            <a:ext cx="11829826" cy="4023360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Omogućavaju generisanje novih rečenice ili celih tekstova, umesto samo izmene postojećih.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Generisanje se može kontrolisati pomoću instrukcija (promptova).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Sequence-to-sequence modeli transformišu jednu tekstualnu sekvencu u drugu: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enkoder formira reprezentaciju ulaza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dekoder generiše izlaznu sekvencu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Primeri seq2seq modela: BART, T5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Veliki jezički modeli (LLM) omogućavaju fleksibilnije generisanje na osnovu instrukcija i nekoliko demonstracionih primera.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Prednosti: velika raznovrsnost i mogućnost kontrole generisanih primera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Ograničenja: model može generisati tekst koji menja značenje ili ne pripada želenoj klasi</a:t>
            </a:r>
          </a:p>
          <a:p>
            <a:pPr>
              <a:buFont typeface="Wingdings" panose="05000000000000000000" pitchFamily="2" charset="2"/>
              <a:buChar char="q"/>
            </a:pPr>
            <a:endParaRPr lang="sr-Latn-R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2517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 smtClean="0"/>
              <a:t>15</a:t>
            </a:r>
            <a:endParaRPr lang="sr-Latn-RS" sz="20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Tehnike za augmentaciju teksta – Augmentacija dodavanjem šuma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97280" y="2064249"/>
            <a:ext cx="11829826" cy="4023360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Podrazumeva namerno uvođenje malih izmena u tekst.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Cilj je povećanje robusnosti modela na greške i varijacije koje se javljaju u realnim podacima.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Najčešće tehnike: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nasumučno brisanje karaktera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umetanje karaktera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zamena susednih karaktera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zamena karaktera susednim karakterom na tastaturi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simuliranje OCR grešaka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Može se primenjivati i na nivou reči kroz kontrolisano brisanje i zamenu tokena.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Prednost: model postaje otporniji na tipografske, OCR i druge oblike šuma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Ograničenje: preveliki intenzitet šuma može učiniti tekst nečitljivim ili promeniti njegovo značenje</a:t>
            </a:r>
          </a:p>
        </p:txBody>
      </p:sp>
    </p:spTree>
    <p:extLst>
      <p:ext uri="{BB962C8B-B14F-4D97-AF65-F5344CB8AC3E}">
        <p14:creationId xmlns:p14="http://schemas.microsoft.com/office/powerpoint/2010/main" val="4260934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14562" y="6414498"/>
            <a:ext cx="1312025" cy="365125"/>
          </a:xfrm>
        </p:spPr>
        <p:txBody>
          <a:bodyPr/>
          <a:lstStyle/>
          <a:p>
            <a:r>
              <a:rPr lang="sr-Latn-RS" sz="2000" dirty="0" smtClean="0"/>
              <a:t>16</a:t>
            </a:r>
            <a:endParaRPr lang="sr-Latn-RS" sz="20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r-Latn-R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Zaključak</a:t>
            </a:r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1097280" y="2064249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sr-Latn-R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Augmentacija teksta omogućava povećanje količine i raznovrsnosti trening podataka.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Posebno je korisna kod malih i neuravnoteženih skupova podataka.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 postoji jedna tehnika koja je optimalna za sve NLP zadatke.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Jednostavne leksičke tehnike su brze i lako primenljive, ali slabije uzimaju u obzir kontekst.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Kontekstualne i generativne metode daju prirodnije i raznovrsnije primere, ali su računski zahtevnije i zahtevaju veću kontrolu kvaliteta.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Ključni zahtev je da augmentovani primer očuva značenje i originalnu oznaku.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Wingdings" panose="05000000000000000000" pitchFamily="2" charset="2"/>
              <a:buChar char="q"/>
            </a:pPr>
            <a:r>
              <a:rPr lang="sr-Latn-R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sr-Latn-R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Efikasnost augmentacije treba proceniti prema njenom uticaju na performanse modela, a ne samo prema broju generisanih primera.</a:t>
            </a:r>
            <a:endParaRPr lang="sr-Latn-R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23184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3350</TotalTime>
  <Words>1368</Words>
  <Application>Microsoft Office PowerPoint</Application>
  <PresentationFormat>Widescreen</PresentationFormat>
  <Paragraphs>164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Retrospect</vt:lpstr>
      <vt:lpstr>Tehnike za augmentaciju tekstualnih podataka</vt:lpstr>
      <vt:lpstr>Sadržaj</vt:lpstr>
      <vt:lpstr>Uvod</vt:lpstr>
      <vt:lpstr>Predobrada tekstualnih podataka</vt:lpstr>
      <vt:lpstr>Predobrada tekstualnih podataka – Čišćenje teksta</vt:lpstr>
      <vt:lpstr>Predobrada tekstualnih podataka – Tokenizacija</vt:lpstr>
      <vt:lpstr>Predobrada tekstualnih podataka – Uklanjanje zaustavnih reči</vt:lpstr>
      <vt:lpstr>Predobrada tekstualnih podataka – Normalizacija teksta</vt:lpstr>
      <vt:lpstr>Tehnike za augmentaciju teksta</vt:lpstr>
      <vt:lpstr>Tehnike za augmentaciju teksta – Jednostavne leksičke tehnike</vt:lpstr>
      <vt:lpstr>Tehnike za augmentaciju teksta – Kontekstualna augmentacija</vt:lpstr>
      <vt:lpstr>Tehnike za augmentaciju teksta – Prevođenje unazad</vt:lpstr>
      <vt:lpstr>Tehnike za augmentaciju teksta – Parafraziranje teksta</vt:lpstr>
      <vt:lpstr>Tehnike za augmentaciju teksta – Generativni modeli za augmentaciju</vt:lpstr>
      <vt:lpstr>Tehnike za augmentaciju teksta – Augmentacija dodavanjem šuma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Izbor atributa</dc:title>
  <dc:creator>Ivana Milivojevic</dc:creator>
  <cp:lastModifiedBy>Ivana Milivojevic</cp:lastModifiedBy>
  <cp:revision>69</cp:revision>
  <dcterms:created xsi:type="dcterms:W3CDTF">2026-08-30T11:10:15Z</dcterms:created>
  <dcterms:modified xsi:type="dcterms:W3CDTF">2026-09-01T19:03:08Z</dcterms:modified>
</cp:coreProperties>
</file>